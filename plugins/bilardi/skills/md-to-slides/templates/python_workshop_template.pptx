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Raleway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1" roundtripDataSignature="AMtx7mgaIWI3Aux+XrnOvrjhF/EKnMMk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8806E1-184C-4ACB-937E-6C7425D868A8}">
  <a:tblStyle styleId="{288806E1-184C-4ACB-937E-6C7425D868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font" Target="fonts/Raleway-regular.fntdata"/><Relationship Id="rId64" Type="http://schemas.openxmlformats.org/officeDocument/2006/relationships/font" Target="fonts/Raleway-bold.fntdata"/><Relationship Id="rId65" Type="http://schemas.openxmlformats.org/officeDocument/2006/relationships/font" Target="fonts/Raleway-italic.fntdata"/><Relationship Id="rId66" Type="http://schemas.openxmlformats.org/officeDocument/2006/relationships/font" Target="fonts/Raleway-boldItalic.fntdata"/><Relationship Id="rId67" Type="http://schemas.openxmlformats.org/officeDocument/2006/relationships/font" Target="fonts/Lato-regular.fntdata"/><Relationship Id="rId68" Type="http://schemas.openxmlformats.org/officeDocument/2006/relationships/font" Target="fonts/Lato-bold.fntdata"/><Relationship Id="rId69" Type="http://schemas.openxmlformats.org/officeDocument/2006/relationships/font" Target="fonts/Lato-italic.fntdata"/><Relationship Id="rId70" Type="http://schemas.openxmlformats.org/officeDocument/2006/relationships/font" Target="fonts/Lato-boldItalic.fntdata"/><Relationship Id="rId7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3a79be48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e43a79be48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3a79be48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e43a79be48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3a79be48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e43a79be48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3f91a7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e43f91a7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40260e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e440260e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43a79be48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43a79be4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8a5bbfb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a8a5bbfb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2472B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1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" name="Google Shape;13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" name="Google Shape;24;p1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6" name="Google Shape;26;p19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729450" y="1321200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32" name="Google Shape;32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" name="Google Shape;35;p20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3854" y="1321200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 1">
  <p:cSld name="TITLE_ONLY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41" name="Google Shape;4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2" name="Google Shape;4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" name="Google Shape;44;p22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50" name="Google Shape;50;p2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23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6" name="Google Shape;56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2B2"/>
              </a:buClr>
              <a:buSzPts val="4500"/>
              <a:buNone/>
              <a:defRPr sz="4500">
                <a:solidFill>
                  <a:srgbClr val="2472B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7" name="Google Shape;57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8" name="Google Shape;58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47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47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472B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2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2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72" name="Google Shape;72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3" name="Google Shape;73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" name="Google Shape;75;p25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80" name="Google Shape;80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1" name="Google Shape;81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" name="Google Shape;83;p26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o principale arancio">
  <p:cSld name="MAIN_PO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2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024"/>
              </a:buClr>
              <a:buSzPts val="4500"/>
              <a:buNone/>
              <a:defRPr sz="4500">
                <a:solidFill>
                  <a:srgbClr val="FCD02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3" name="Google Shape;93;p2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p2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96" name="Google Shape;96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7" name="Google Shape;97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CD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247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" name="Google Shape;99;p28" title="pyvenice.transparent.1024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5707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5" name="Google Shape;105;p3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0815"/>
              </a:buClr>
              <a:buSzPts val="4500"/>
              <a:buNone/>
              <a:defRPr sz="4500">
                <a:solidFill>
                  <a:srgbClr val="C8081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06" name="Google Shape;106;p3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7" name="Google Shape;107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C8081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C808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C8081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C808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o principale blue">
  <p:cSld name="BLANK_1_1">
    <p:bg>
      <p:bgPr>
        <a:solidFill>
          <a:srgbClr val="2472B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111" name="Google Shape;111;p3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2" name="Google Shape;112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3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ato"/>
              <a:buNone/>
              <a:defRPr b="0" i="0" sz="3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python.org/3/glossary.html#term-function" TargetMode="External"/><Relationship Id="rId4" Type="http://schemas.openxmlformats.org/officeDocument/2006/relationships/hyperlink" Target="https://docs.python.org/3/glossary.html#term-metho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" title="ChatGPT Image Jan 16, 2026, 09_50_18 PM.png"/>
          <p:cNvPicPr preferRelativeResize="0"/>
          <p:nvPr/>
        </p:nvPicPr>
        <p:blipFill rotWithShape="1">
          <a:blip r:embed="rId3">
            <a:alphaModFix/>
          </a:blip>
          <a:srcRect b="8683" l="0" r="0" t="7663"/>
          <a:stretch/>
        </p:blipFill>
        <p:spPr>
          <a:xfrm>
            <a:off x="-53525" y="9925"/>
            <a:ext cx="9251052" cy="515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 title="opaco.60.gray.1280x64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525" y="-8000"/>
            <a:ext cx="9251050" cy="515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 title="pyvenice.transparent.102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513" y="9922"/>
            <a:ext cx="3558387" cy="11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>
            <p:ph idx="4294967295" type="subTitle"/>
          </p:nvPr>
        </p:nvSpPr>
        <p:spPr>
          <a:xfrm>
            <a:off x="644525" y="4590125"/>
            <a:ext cx="4518900" cy="44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688"/>
              <a:buFont typeface="Lato"/>
              <a:buNone/>
            </a:pPr>
            <a:r>
              <a:rPr b="1" i="0" lang="it" sz="16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@PyVenice #workshop #PythonItalia #Python</a:t>
            </a:r>
            <a:endParaRPr b="1" i="0" sz="16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"/>
          <p:cNvSpPr txBox="1"/>
          <p:nvPr>
            <p:ph idx="4294967295" type="ctrTitle"/>
          </p:nvPr>
        </p:nvSpPr>
        <p:spPr>
          <a:xfrm>
            <a:off x="644525" y="1205925"/>
            <a:ext cx="7833900" cy="140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Lato"/>
              <a:buNone/>
            </a:pPr>
            <a:r>
              <a:rPr b="0" i="0" lang="it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Primi passi in Python con il TDD: dalle variabili al primo test</a:t>
            </a:r>
            <a:endParaRPr b="0" i="0" sz="4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29" name="Google Shape;129;p2"/>
          <p:cNvSpPr txBox="1"/>
          <p:nvPr>
            <p:ph idx="1" type="body"/>
          </p:nvPr>
        </p:nvSpPr>
        <p:spPr>
          <a:xfrm>
            <a:off x="729450" y="2272906"/>
            <a:ext cx="7688400" cy="23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it" sz="2000"/>
              <a:t>ABC di Python al REPL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2000"/>
              <a:t>Scaffold del package e primo commit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2000"/>
              <a:t>Primo ciclo TDD: caso felice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2000"/>
              <a:t>Ciclo TDD avanzato: caso negativo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it">
                <a:solidFill>
                  <a:schemeClr val="lt1"/>
                </a:solidFill>
              </a:rPr>
              <a:t>ABC di Python al REPL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729627" y="34777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800">
                <a:solidFill>
                  <a:schemeClr val="lt1"/>
                </a:solidFill>
              </a:rPr>
              <a:t>@PyVenice #workshop #PythonItalia #Python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43a79be48_2_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ABC - Classe</a:t>
            </a:r>
            <a:endParaRPr/>
          </a:p>
        </p:txBody>
      </p:sp>
      <p:sp>
        <p:nvSpPr>
          <p:cNvPr id="141" name="Google Shape;141;g3e43a79be48_2_22"/>
          <p:cNvSpPr txBox="1"/>
          <p:nvPr/>
        </p:nvSpPr>
        <p:spPr>
          <a:xfrm>
            <a:off x="731520" y="1314907"/>
            <a:ext cx="2743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Assegnazione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it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it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43a79be48_2_22"/>
          <p:cNvSpPr txBox="1"/>
          <p:nvPr/>
        </p:nvSpPr>
        <p:spPr>
          <a:xfrm>
            <a:off x="3849625" y="1314900"/>
            <a:ext cx="4572000" cy="37800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[project]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name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"wallet"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version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"0.1.0"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description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"Add your description here"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readme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"README.md"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authors = [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    { name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"..."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, email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"..."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requires-python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"&gt;=3.12"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dependencies =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[project.scripts]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wallet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"wallet:main"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[build-system]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requires = [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"hatchling"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build-backend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"hatchling.build"</a:t>
            </a:r>
            <a:endParaRPr b="0" i="0" sz="1600" u="none" cap="none" strike="noStrike">
              <a:solidFill>
                <a:srgbClr val="85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43a79be48_2_2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Passiamo alla pratica !</a:t>
            </a:r>
            <a:endParaRPr/>
          </a:p>
        </p:txBody>
      </p:sp>
      <p:sp>
        <p:nvSpPr>
          <p:cNvPr id="148" name="Google Shape;148;g3e43a79be48_2_2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@PyVenice #workshop #PythonItalia #Python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43a79be48_2_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Pratica - Assegnazione</a:t>
            </a:r>
            <a:endParaRPr/>
          </a:p>
        </p:txBody>
      </p:sp>
      <p:sp>
        <p:nvSpPr>
          <p:cNvPr id="154" name="Google Shape;154;g3e43a79be48_2_33"/>
          <p:cNvSpPr txBox="1"/>
          <p:nvPr/>
        </p:nvSpPr>
        <p:spPr>
          <a:xfrm>
            <a:off x="731520" y="1314907"/>
            <a:ext cx="3657600" cy="36576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x = </a:t>
            </a:r>
            <a:r>
              <a:rPr b="0" i="0" lang="it" sz="1600" u="none" cap="none" strike="noStrike">
                <a:solidFill>
                  <a:srgbClr val="D3368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name = </a:t>
            </a:r>
            <a:r>
              <a:rPr b="0" i="0" lang="it" sz="1600" u="none" cap="none" strike="noStrike">
                <a:solidFill>
                  <a:srgbClr val="2AA198"/>
                </a:solidFill>
                <a:latin typeface="Arial"/>
                <a:ea typeface="Arial"/>
                <a:cs typeface="Arial"/>
                <a:sym typeface="Arial"/>
              </a:rPr>
              <a:t>"Anna"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total = x + </a:t>
            </a:r>
            <a:r>
              <a:rPr b="0" i="0" lang="it" sz="1600" u="none" cap="none" strike="noStrike">
                <a:solidFill>
                  <a:srgbClr val="D3368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D33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B58900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(total)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B58900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(name)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e43a79be48_2_33"/>
          <p:cNvSpPr txBox="1"/>
          <p:nvPr/>
        </p:nvSpPr>
        <p:spPr>
          <a:xfrm>
            <a:off x="4764024" y="1314907"/>
            <a:ext cx="3657600" cy="36576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859900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python assegnazione.py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93A1A1"/>
                </a:solidFill>
                <a:latin typeface="Arial"/>
                <a:ea typeface="Arial"/>
                <a:cs typeface="Arial"/>
                <a:sym typeface="Arial"/>
              </a:rPr>
              <a:t>Anna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3f91a7d4_0_0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venice.python.it</a:t>
            </a:r>
            <a:endParaRPr/>
          </a:p>
        </p:txBody>
      </p:sp>
      <p:pic>
        <p:nvPicPr>
          <p:cNvPr id="161" name="Google Shape;161;g3e43f91a7d4_0_0" title="Screenshot From 2025-09-05 21-10-2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500" y="1308800"/>
            <a:ext cx="3723000" cy="3763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40260ed3_0_0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venice.python.it</a:t>
            </a:r>
            <a:endParaRPr/>
          </a:p>
        </p:txBody>
      </p:sp>
      <p:graphicFrame>
        <p:nvGraphicFramePr>
          <p:cNvPr id="167" name="Google Shape;167;g3e440260ed3_0_0"/>
          <p:cNvGraphicFramePr/>
          <p:nvPr/>
        </p:nvGraphicFramePr>
        <p:xfrm>
          <a:off x="3124200" y="130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{288806E1-184C-4ACB-937E-6C7425D868A8}</a:tableStyleId>
              </a:tblPr>
              <a:tblGrid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in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tes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asd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asd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asd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asd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43a79be48_2_44"/>
          <p:cNvSpPr/>
          <p:nvPr/>
        </p:nvSpPr>
        <p:spPr>
          <a:xfrm>
            <a:off x="418275" y="2609300"/>
            <a:ext cx="8295600" cy="223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"/>
          <p:cNvSpPr/>
          <p:nvPr/>
        </p:nvSpPr>
        <p:spPr>
          <a:xfrm>
            <a:off x="418275" y="2609300"/>
            <a:ext cx="8295600" cy="223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8a5bbfb64_0_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it">
                <a:solidFill>
                  <a:schemeClr val="lt1"/>
                </a:solidFill>
              </a:rPr>
              <a:t>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3" name="Google Shape;463;g3a8a5bbfb64_0_0"/>
          <p:cNvSpPr txBox="1"/>
          <p:nvPr>
            <p:ph idx="1" type="subTitle"/>
          </p:nvPr>
        </p:nvSpPr>
        <p:spPr>
          <a:xfrm>
            <a:off x="729627" y="34777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800">
                <a:solidFill>
                  <a:schemeClr val="lt1"/>
                </a:solidFill>
              </a:rPr>
              <a:t>@PyVenice #workshop #PythonItalia #Python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bilardi/python-prototype</a:t>
            </a:r>
            <a:endParaRPr/>
          </a:p>
        </p:txBody>
      </p:sp>
      <p:pic>
        <p:nvPicPr>
          <p:cNvPr id="469" name="Google Shape;469;p12" title="Screenshot From 2026-05-23 10-06-5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1187" y="1107125"/>
            <a:ext cx="3781604" cy="376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4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venice.python.it</a:t>
            </a:r>
            <a:endParaRPr/>
          </a:p>
        </p:txBody>
      </p:sp>
      <p:pic>
        <p:nvPicPr>
          <p:cNvPr id="475" name="Google Shape;475;p14" title="Screenshot From 2025-09-05 21-10-2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500" y="1032575"/>
            <a:ext cx="3723000" cy="3763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"/>
          <p:cNvSpPr txBox="1"/>
          <p:nvPr>
            <p:ph type="title"/>
          </p:nvPr>
        </p:nvSpPr>
        <p:spPr>
          <a:xfrm>
            <a:off x="730000" y="1318650"/>
            <a:ext cx="7726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 sz="4500">
                <a:solidFill>
                  <a:schemeClr val="lt1"/>
                </a:solidFill>
              </a:rPr>
              <a:t>Thank you for listening !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481" name="Google Shape;481;p15"/>
          <p:cNvSpPr txBox="1"/>
          <p:nvPr>
            <p:ph idx="1" type="body"/>
          </p:nvPr>
        </p:nvSpPr>
        <p:spPr>
          <a:xfrm>
            <a:off x="729627" y="34777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it" sz="1800">
                <a:solidFill>
                  <a:schemeClr val="lt1"/>
                </a:solidFill>
              </a:rPr>
              <a:t>@PyVenice #workshop #PythonItalia #Python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489BB7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C9041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